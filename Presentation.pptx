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8" r:id="rId7"/>
    <p:sldId id="260" r:id="rId8"/>
    <p:sldId id="261" r:id="rId9"/>
    <p:sldId id="262" r:id="rId10"/>
    <p:sldId id="267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141B41"/>
          </a:solidFill>
        </p:spPr>
      </p:sp>
      <p:sp>
        <p:nvSpPr>
          <p:cNvPr id="4" name="Shape 2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41B41"/>
          </a:solidFill>
        </p:spPr>
      </p:sp>
      <p:sp>
        <p:nvSpPr>
          <p:cNvPr id="5" name="Shape 3"/>
          <p:cNvSpPr/>
          <p:nvPr/>
        </p:nvSpPr>
        <p:spPr>
          <a:xfrm>
            <a:off x="640080" y="731520"/>
            <a:ext cx="822960" cy="822960"/>
          </a:xfrm>
          <a:prstGeom prst="ellipse">
            <a:avLst/>
          </a:prstGeom>
          <a:solidFill>
            <a:srgbClr val="00E676"/>
          </a:solidFill>
        </p:spPr>
      </p:sp>
      <p:sp>
        <p:nvSpPr>
          <p:cNvPr id="6" name="Text 4"/>
          <p:cNvSpPr/>
          <p:nvPr/>
        </p:nvSpPr>
        <p:spPr>
          <a:xfrm>
            <a:off x="640080" y="73152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TB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6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 •  PREDICTIVE MODELING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05156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Recipe Site Traffic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Tasty Bytes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CC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data-driven approach to maximizing homepage traffic &amp; premium subscriptions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5166360"/>
            <a:ext cx="1097280" cy="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3492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  Muhammad Taha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Tasty Bytes | Recipe Traffic Prediction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Cost of Guesswork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2514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Aft>
                <a:spcPts val="1400"/>
              </a:spcAft>
              <a:buSzPct val="100000"/>
              <a:buNone/>
            </a:pPr>
            <a:r>
              <a:rPr lang="en-US" sz="140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Featuring a popular recipe on the homepage boosts overall traffic by up to </a:t>
            </a:r>
            <a:r>
              <a:rPr lang="en-US" sz="1400" b="1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r>
              <a:rPr lang="en-US" sz="140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traffic directly translates into more premium subscriptions.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Currently, recipes are selected based on the Product Manager's personal intuition.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1400"/>
              </a:spcAft>
              <a:buSzPct val="100000"/>
              <a:buNone/>
            </a:pPr>
            <a:r>
              <a:rPr lang="en-US" sz="1400" b="1" dirty="0">
                <a:solidFill>
                  <a:srgbClr val="E85D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Issue: </a:t>
            </a:r>
            <a:r>
              <a:rPr lang="en-US" sz="140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Intuition is inconsistent, featuring a “flop” recipe leaves significant revenue on the table.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141B41"/>
          </a:solidFill>
        </p:spPr>
      </p:sp>
      <p:sp>
        <p:nvSpPr>
          <p:cNvPr id="6" name="Text 4"/>
          <p:cNvSpPr/>
          <p:nvPr/>
        </p:nvSpPr>
        <p:spPr>
          <a:xfrm>
            <a:off x="548640" y="4617720"/>
            <a:ext cx="28803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Popular Recipe</a:t>
            </a:r>
            <a:endParaRPr lang="en-US" sz="150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29000" y="4617720"/>
            <a:ext cx="5029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931920" y="461772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05C46B"/>
          </a:solidFill>
        </p:spPr>
      </p:sp>
      <p:sp>
        <p:nvSpPr>
          <p:cNvPr id="9" name="Text 7"/>
          <p:cNvSpPr/>
          <p:nvPr/>
        </p:nvSpPr>
        <p:spPr>
          <a:xfrm>
            <a:off x="3931920" y="4617720"/>
            <a:ext cx="28803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+40%</a:t>
            </a:r>
            <a:endParaRPr lang="en-US" sz="150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Boost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2280" y="4617720"/>
            <a:ext cx="5029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315200" y="461772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141B41"/>
          </a:solidFill>
        </p:spPr>
      </p:sp>
      <p:sp>
        <p:nvSpPr>
          <p:cNvPr id="12" name="Text 10"/>
          <p:cNvSpPr/>
          <p:nvPr/>
        </p:nvSpPr>
        <p:spPr>
          <a:xfrm>
            <a:off x="7315200" y="4617720"/>
            <a:ext cx="28803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Premium</a:t>
            </a:r>
            <a:endParaRPr lang="en-US" sz="150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Subscriptions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Tasty Bytes | Recipe Traffic Prediction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Moving to Data-Driven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rgbClr val="EAF7EF"/>
          </a:solidFill>
        </p:spPr>
      </p:sp>
      <p:sp>
        <p:nvSpPr>
          <p:cNvPr id="5" name="Shape 3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rgbClr val="EAF7EF"/>
          </a:solidFill>
        </p:spPr>
      </p:sp>
      <p:sp>
        <p:nvSpPr>
          <p:cNvPr id="6" name="Shape 4"/>
          <p:cNvSpPr/>
          <p:nvPr/>
        </p:nvSpPr>
        <p:spPr>
          <a:xfrm>
            <a:off x="640080" y="1965960"/>
            <a:ext cx="146304" cy="146304"/>
          </a:xfrm>
          <a:prstGeom prst="ellipse">
            <a:avLst/>
          </a:prstGeom>
          <a:solidFill>
            <a:srgbClr val="05C46B"/>
          </a:solidFill>
        </p:spPr>
      </p:sp>
      <p:sp>
        <p:nvSpPr>
          <p:cNvPr id="7" name="Text 5"/>
          <p:cNvSpPr/>
          <p:nvPr/>
        </p:nvSpPr>
        <p:spPr>
          <a:xfrm>
            <a:off x="1051560" y="1819656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167128"/>
            <a:ext cx="5486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machine learning model to predict which recipes will generate high traffic.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329184" cy="329184"/>
          </a:xfrm>
          <a:prstGeom prst="ellipse">
            <a:avLst/>
          </a:prstGeom>
          <a:solidFill>
            <a:srgbClr val="EAF7EF"/>
          </a:solidFill>
        </p:spPr>
      </p:sp>
      <p:sp>
        <p:nvSpPr>
          <p:cNvPr id="10" name="Shape 8"/>
          <p:cNvSpPr/>
          <p:nvPr/>
        </p:nvSpPr>
        <p:spPr>
          <a:xfrm>
            <a:off x="548640" y="3108960"/>
            <a:ext cx="329184" cy="329184"/>
          </a:xfrm>
          <a:prstGeom prst="ellipse">
            <a:avLst/>
          </a:prstGeom>
          <a:solidFill>
            <a:srgbClr val="EAF7EF"/>
          </a:solidFill>
        </p:spPr>
      </p:sp>
      <p:sp>
        <p:nvSpPr>
          <p:cNvPr id="11" name="Shape 9"/>
          <p:cNvSpPr/>
          <p:nvPr/>
        </p:nvSpPr>
        <p:spPr>
          <a:xfrm>
            <a:off x="640080" y="3200400"/>
            <a:ext cx="146304" cy="146304"/>
          </a:xfrm>
          <a:prstGeom prst="ellipse">
            <a:avLst/>
          </a:prstGeom>
          <a:solidFill>
            <a:srgbClr val="05C46B"/>
          </a:solidFill>
        </p:spPr>
      </p:sp>
      <p:sp>
        <p:nvSpPr>
          <p:cNvPr id="12" name="Text 10"/>
          <p:cNvSpPr/>
          <p:nvPr/>
        </p:nvSpPr>
        <p:spPr>
          <a:xfrm>
            <a:off x="1051560" y="3054096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Metric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401568"/>
            <a:ext cx="5486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Precision: the share of recommended recipes that are true high-traffic winners.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329184" cy="329184"/>
          </a:xfrm>
          <a:prstGeom prst="ellipse">
            <a:avLst/>
          </a:prstGeom>
          <a:solidFill>
            <a:srgbClr val="EAF7EF"/>
          </a:solidFill>
        </p:spPr>
      </p:sp>
      <p:sp>
        <p:nvSpPr>
          <p:cNvPr id="15" name="Shape 13"/>
          <p:cNvSpPr/>
          <p:nvPr/>
        </p:nvSpPr>
        <p:spPr>
          <a:xfrm>
            <a:off x="548640" y="4343400"/>
            <a:ext cx="329184" cy="329184"/>
          </a:xfrm>
          <a:prstGeom prst="ellipse">
            <a:avLst/>
          </a:prstGeom>
          <a:solidFill>
            <a:srgbClr val="EAF7EF"/>
          </a:solidFill>
        </p:spPr>
      </p:sp>
      <p:sp>
        <p:nvSpPr>
          <p:cNvPr id="16" name="Shape 14"/>
          <p:cNvSpPr/>
          <p:nvPr/>
        </p:nvSpPr>
        <p:spPr>
          <a:xfrm>
            <a:off x="640080" y="4434840"/>
            <a:ext cx="146304" cy="146304"/>
          </a:xfrm>
          <a:prstGeom prst="ellipse">
            <a:avLst/>
          </a:prstGeom>
          <a:solidFill>
            <a:srgbClr val="05C46B"/>
          </a:solidFill>
        </p:spPr>
      </p:sp>
      <p:sp>
        <p:nvSpPr>
          <p:cNvPr id="17" name="Text 15"/>
          <p:cNvSpPr/>
          <p:nvPr/>
        </p:nvSpPr>
        <p:spPr>
          <a:xfrm>
            <a:off x="1051560" y="4288536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Precision?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636008"/>
            <a:ext cx="5486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false positive (recommending a bad recipe) is costly. Fewer, highly confident recommendations beat many risky ones.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182880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0A1128"/>
          </a:solidFill>
        </p:spPr>
      </p:sp>
      <p:sp>
        <p:nvSpPr>
          <p:cNvPr id="20" name="Text 18"/>
          <p:cNvSpPr/>
          <p:nvPr/>
        </p:nvSpPr>
        <p:spPr>
          <a:xfrm>
            <a:off x="7406640" y="224028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E6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REQUIREMENT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2606040"/>
            <a:ext cx="42062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8400" dirty="0"/>
          </a:p>
        </p:txBody>
      </p:sp>
      <p:sp>
        <p:nvSpPr>
          <p:cNvPr id="22" name="Text 20"/>
          <p:cNvSpPr/>
          <p:nvPr/>
        </p:nvSpPr>
        <p:spPr>
          <a:xfrm>
            <a:off x="7772400" y="4251960"/>
            <a:ext cx="3474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00" dirty="0">
                <a:solidFill>
                  <a:srgbClr val="C7CC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precision on every recipe</a:t>
            </a:r>
            <a:endParaRPr lang="en-US" sz="140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400" dirty="0">
                <a:solidFill>
                  <a:srgbClr val="C7CC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recommend for the homepage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0" y="5074920"/>
            <a:ext cx="256032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51663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8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by the Product Manager as the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8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bar for a “win.”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Tasty Bytes | Recipe Traffic Prediction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OVERVIEW &amp;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Preparing Data for Success</a:t>
            </a:r>
            <a:endParaRPr lang="en-US" sz="3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920240"/>
            <a:ext cx="3246120" cy="1853565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20090" y="2194560"/>
            <a:ext cx="548640" cy="548640"/>
          </a:xfrm>
          <a:prstGeom prst="ellipse">
            <a:avLst/>
          </a:prstGeom>
          <a:solidFill>
            <a:srgbClr val="05C46B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20090" y="21945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417320" y="2286000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Recipes Analyzed</a:t>
            </a:r>
            <a:endParaRPr lang="en-US" b="1" dirty="0">
              <a:solidFill>
                <a:srgbClr val="0A112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822960" y="2880360"/>
            <a:ext cx="2697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includes recipe category and detailed nutritional data for each entry.</a:t>
            </a:r>
            <a:endParaRPr lang="en-US" sz="12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114800" y="1920240"/>
            <a:ext cx="3246120" cy="189230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200525" y="2194560"/>
            <a:ext cx="548640" cy="549275"/>
          </a:xfrm>
          <a:prstGeom prst="ellipse">
            <a:avLst/>
          </a:prstGeom>
          <a:solidFill>
            <a:srgbClr val="05C46B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200525" y="21945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4834890" y="2286000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Categories Consolidated</a:t>
            </a:r>
            <a:endParaRPr lang="en-US" b="1" dirty="0">
              <a:solidFill>
                <a:srgbClr val="0A112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526280" y="2996565"/>
            <a:ext cx="2697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Merged overlapping categories  e.g. combining “Chicken Breast” into “Chicken.”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7680960" y="1920240"/>
            <a:ext cx="3246120" cy="192405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7781290" y="2194560"/>
            <a:ext cx="548640" cy="548640"/>
          </a:xfrm>
          <a:prstGeom prst="ellipse">
            <a:avLst/>
          </a:prstGeom>
          <a:solidFill>
            <a:srgbClr val="05C46B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7781290" y="2195195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8458200" y="2286000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Anomalies Handled</a:t>
            </a:r>
            <a:endParaRPr lang="en-US" b="1" dirty="0">
              <a:solidFill>
                <a:srgbClr val="0A112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7955280" y="3035300"/>
            <a:ext cx="2697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Capped extreme nutritional outliers (e.g. impossible calorie counts) to keep analysis accurate.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231005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→ AFTER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548640" y="4538980"/>
          <a:ext cx="10607040" cy="1026795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3657600"/>
              </a:tblGrid>
              <a:tr h="3562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Raw 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Cleaned 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128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</a:rPr>
                        <a:t>“Chicken Breast”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C46B"/>
                          </a:solidFill>
                        </a:rPr>
                        <a:t>“Chicken”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128"/>
                          </a:solidFill>
                        </a:rPr>
                        <a:t>calories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</a:rPr>
                        <a:t>38,000 kcal (outlier)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C46B"/>
                          </a:solidFill>
                        </a:rPr>
                        <a:t>Capped to realistic max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Tasty Bytes | Recipe Traffic Prediction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OVERVIEW &amp;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Dataset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424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Nearly 900 recipes span ten categories and four serving</a:t>
            </a:r>
            <a:endParaRPr lang="en-US" sz="1450" dirty="0">
              <a:solidFill>
                <a:srgbClr val="5B64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4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sizes, giving the model a broad, realistic base to learn from.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133975" y="3634740"/>
            <a:ext cx="6299200" cy="2811780"/>
          </a:xfrm>
          <a:prstGeom prst="roundRect">
            <a:avLst>
              <a:gd name="adj" fmla="val 2476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1B244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6845" y="2743200"/>
            <a:ext cx="4465320" cy="3240405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1B244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Tasty Bytes | Recipe Traffic Prediction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3830" y="3634740"/>
            <a:ext cx="6072505" cy="26384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45" y="2931795"/>
            <a:ext cx="4295140" cy="2863215"/>
          </a:xfrm>
          <a:prstGeom prst="rect">
            <a:avLst/>
          </a:prstGeom>
        </p:spPr>
      </p:pic>
      <p:sp>
        <p:nvSpPr>
          <p:cNvPr id="19" name="Shape 17"/>
          <p:cNvSpPr/>
          <p:nvPr/>
        </p:nvSpPr>
        <p:spPr>
          <a:xfrm>
            <a:off x="5673725" y="299720"/>
            <a:ext cx="4919980" cy="3129915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1B2440">
                <a:alpha val="12000"/>
              </a:srgbClr>
            </a:outerShdw>
          </a:effectLst>
        </p:spPr>
        <p:txBody>
          <a:bodyPr/>
          <a:p>
            <a:r>
              <a:rPr lang="en-US" altLang="en-GB"/>
              <a:t> </a:t>
            </a:r>
            <a:endParaRPr lang="en-US" altLang="en-GB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110" y="403860"/>
            <a:ext cx="4601210" cy="2758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Nutrition Drive Traffic?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0292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hypothesized that healthy (low calorie/sugar) or high-protein meals might drive more traffic.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0292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Aft>
                <a:spcPts val="1400"/>
              </a:spcAft>
              <a:buSzPct val="100000"/>
              <a:buNone/>
            </a:pPr>
            <a:r>
              <a:rPr lang="en-US" sz="1550" b="1" dirty="0">
                <a:solidFill>
                  <a:srgbClr val="E85D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Reality: </a:t>
            </a:r>
            <a:r>
              <a:rPr lang="en-US" sz="155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nutritional values show </a:t>
            </a:r>
            <a:r>
              <a:rPr lang="en-US" sz="155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near-zero correlation</a:t>
            </a:r>
            <a:r>
              <a:rPr lang="en-US" sz="155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with high traffic.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50292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a recipe is high or low in calories, protein, or sugar does not predict whether users will click it.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516636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</p:spPr>
      </p:sp>
      <p:sp>
        <p:nvSpPr>
          <p:cNvPr id="8" name="Text 6"/>
          <p:cNvSpPr/>
          <p:nvPr/>
        </p:nvSpPr>
        <p:spPr>
          <a:xfrm>
            <a:off x="822960" y="5166360"/>
            <a:ext cx="44805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130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Nutrition data alone won’t tell us which recipes will succeed, we need a stronger signal.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79465" y="1539875"/>
            <a:ext cx="5979160" cy="4707890"/>
          </a:xfrm>
          <a:prstGeom prst="roundRect">
            <a:avLst>
              <a:gd name="adj" fmla="val 187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1B244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Tasty Bytes | Recipe Traffic Prediction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4250" y="1942465"/>
            <a:ext cx="5491480" cy="401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You Cook Matters Most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Recipe category is the </a:t>
            </a:r>
            <a:r>
              <a:rPr lang="en-US" sz="1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strongest predictor</a:t>
            </a:r>
            <a:r>
              <a:rPr lang="en-US" sz="120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of traffic.</a:t>
            </a:r>
            <a:endParaRPr lang="en-US" sz="1200" dirty="0">
              <a:solidFill>
                <a:srgbClr val="0A112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48640" y="2331720"/>
            <a:ext cx="3279775" cy="1508760"/>
          </a:xfrm>
          <a:prstGeom prst="roundRect">
            <a:avLst>
              <a:gd name="adj" fmla="val 4324"/>
            </a:avLst>
          </a:prstGeom>
          <a:solidFill>
            <a:srgbClr val="EAF7EF"/>
          </a:solidFill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822960" y="2532888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WINNERS</a:t>
            </a:r>
            <a:endParaRPr lang="en-US" sz="11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822960" y="2788920"/>
            <a:ext cx="10217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90%+</a:t>
            </a:r>
            <a:endParaRPr lang="en-US" sz="2400" b="1" dirty="0">
              <a:solidFill>
                <a:srgbClr val="05C4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737360" y="2505075"/>
            <a:ext cx="274320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Vegetable, Potato, and Pork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recipes generate high traffic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 90% of the time.</a:t>
            </a:r>
            <a:endParaRPr lang="en-US" sz="125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548640" y="4206240"/>
            <a:ext cx="3304540" cy="1691640"/>
          </a:xfrm>
          <a:prstGeom prst="roundRect">
            <a:avLst>
              <a:gd name="adj" fmla="val 4324"/>
            </a:avLst>
          </a:prstGeom>
          <a:solidFill>
            <a:srgbClr val="FBEAEA"/>
          </a:solidFill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822960" y="4407408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D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LOSERS</a:t>
            </a:r>
            <a:endParaRPr lang="en-US" sz="1100" dirty="0"/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822960" y="4663440"/>
            <a:ext cx="102298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5D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&lt;10%</a:t>
            </a:r>
            <a:endParaRPr lang="en-US" sz="2400" b="1" dirty="0">
              <a:solidFill>
                <a:srgbClr val="E85D5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1737360" y="4305935"/>
            <a:ext cx="274320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Beverages generate high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less than 10% of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51655" y="1985010"/>
            <a:ext cx="7588250" cy="393954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1B244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Tasty Bytes | Recipe Traffic Prediction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3275" y="2221865"/>
            <a:ext cx="7030085" cy="3465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the Predictive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424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models were trained and evaluated using cross-validation to ensure they generalize well to unseen data.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0A1128"/>
          </a:solidFill>
        </p:spPr>
      </p:sp>
      <p:sp>
        <p:nvSpPr>
          <p:cNvPr id="6" name="Shape 4"/>
          <p:cNvSpPr/>
          <p:nvPr/>
        </p:nvSpPr>
        <p:spPr>
          <a:xfrm>
            <a:off x="3840480" y="251460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00E676"/>
          </a:solidFill>
        </p:spPr>
      </p:sp>
      <p:sp>
        <p:nvSpPr>
          <p:cNvPr id="7" name="Text 5"/>
          <p:cNvSpPr/>
          <p:nvPr/>
        </p:nvSpPr>
        <p:spPr>
          <a:xfrm>
            <a:off x="3840480" y="2514600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1089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</a:t>
            </a:r>
            <a:endParaRPr lang="en-US" sz="24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3712464"/>
            <a:ext cx="109728" cy="109728"/>
          </a:xfrm>
          <a:prstGeom prst="ellipse">
            <a:avLst/>
          </a:prstGeom>
          <a:solidFill>
            <a:srgbClr val="00E676"/>
          </a:solidFill>
        </p:spPr>
      </p:sp>
      <p:sp>
        <p:nvSpPr>
          <p:cNvPr id="10" name="Text 8"/>
          <p:cNvSpPr/>
          <p:nvPr/>
        </p:nvSpPr>
        <p:spPr>
          <a:xfrm>
            <a:off x="1143000" y="3584448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E4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and highly interpretable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306824"/>
            <a:ext cx="109728" cy="109728"/>
          </a:xfrm>
          <a:prstGeom prst="ellipse">
            <a:avLst/>
          </a:prstGeom>
          <a:solidFill>
            <a:srgbClr val="00E676"/>
          </a:solidFill>
        </p:spPr>
      </p:sp>
      <p:sp>
        <p:nvSpPr>
          <p:cNvPr id="12" name="Text 10"/>
          <p:cNvSpPr/>
          <p:nvPr/>
        </p:nvSpPr>
        <p:spPr>
          <a:xfrm>
            <a:off x="1143000" y="4178808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E4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to tune a confidence threshold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901184"/>
            <a:ext cx="109728" cy="109728"/>
          </a:xfrm>
          <a:prstGeom prst="ellipse">
            <a:avLst/>
          </a:prstGeom>
          <a:solidFill>
            <a:srgbClr val="00E676"/>
          </a:solidFill>
        </p:spPr>
      </p:sp>
      <p:sp>
        <p:nvSpPr>
          <p:cNvPr id="14" name="Text 12"/>
          <p:cNvSpPr/>
          <p:nvPr/>
        </p:nvSpPr>
        <p:spPr>
          <a:xfrm>
            <a:off x="1143000" y="4773168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E4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Selected as the production model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606040"/>
            <a:ext cx="31089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</a:t>
            </a:r>
            <a:endParaRPr lang="en-US" sz="24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Forest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46520" y="32918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COMPARISON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3895344"/>
            <a:ext cx="109728" cy="109728"/>
          </a:xfrm>
          <a:prstGeom prst="ellipse">
            <a:avLst/>
          </a:prstGeom>
          <a:solidFill>
            <a:srgbClr val="5B6478"/>
          </a:solidFill>
        </p:spPr>
      </p:sp>
      <p:sp>
        <p:nvSpPr>
          <p:cNvPr id="19" name="Text 17"/>
          <p:cNvSpPr/>
          <p:nvPr/>
        </p:nvSpPr>
        <p:spPr>
          <a:xfrm>
            <a:off x="6720840" y="3767328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complex, less interpretable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46520" y="4489704"/>
            <a:ext cx="109728" cy="109728"/>
          </a:xfrm>
          <a:prstGeom prst="ellipse">
            <a:avLst/>
          </a:prstGeom>
          <a:solidFill>
            <a:srgbClr val="5B6478"/>
          </a:solidFill>
        </p:spPr>
      </p:sp>
      <p:sp>
        <p:nvSpPr>
          <p:cNvPr id="21" name="Text 19"/>
          <p:cNvSpPr/>
          <p:nvPr/>
        </p:nvSpPr>
        <p:spPr>
          <a:xfrm>
            <a:off x="6720840" y="4361688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Harder to tune for a precision target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46520" y="5084064"/>
            <a:ext cx="109728" cy="109728"/>
          </a:xfrm>
          <a:prstGeom prst="ellipse">
            <a:avLst/>
          </a:prstGeom>
          <a:solidFill>
            <a:srgbClr val="5B6478"/>
          </a:solidFill>
        </p:spPr>
      </p:sp>
      <p:sp>
        <p:nvSpPr>
          <p:cNvPr id="23" name="Text 21"/>
          <p:cNvSpPr/>
          <p:nvPr/>
        </p:nvSpPr>
        <p:spPr>
          <a:xfrm>
            <a:off x="6720840" y="4956048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Evaluated for comparison purposes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Tasty Bytes | Recipe Traffic Prediction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Beating the 80% Requirement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 OF THE BOX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2486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r>
              <a:rPr lang="en-US" sz="180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precision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Comfortably beating the 80% requirement, right out of the box.</a:t>
            </a:r>
            <a:endParaRPr lang="en-US" sz="1200" dirty="0">
              <a:solidFill>
                <a:srgbClr val="5B64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 flipV="1">
            <a:off x="548640" y="3703955"/>
            <a:ext cx="4095750" cy="1397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86200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GOING FURTHER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3512185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95%</a:t>
            </a:r>
            <a:r>
              <a:rPr lang="en-US" sz="180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ultra-strict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5212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mapped the precision-recall trade-off and raised</a:t>
            </a:r>
            <a:endParaRPr lang="en-US" sz="1200" dirty="0">
              <a:solidFill>
                <a:srgbClr val="5B64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the classification threshold to guarantee an</a:t>
            </a:r>
            <a:endParaRPr lang="en-US" sz="1200" dirty="0">
              <a:solidFill>
                <a:srgbClr val="5B64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ultra-strict 95% precision target.</a:t>
            </a:r>
            <a:endParaRPr lang="en-US" sz="1200" dirty="0">
              <a:solidFill>
                <a:srgbClr val="5B64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88865" y="1505585"/>
            <a:ext cx="6736715" cy="4083685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1B244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Tasty Bytes | Recipe Traffic Prediction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0470" y="1767840"/>
            <a:ext cx="6452870" cy="35331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C4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Value of the Model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1010" y="5800725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guarantees that almost every recipe placed on the homepage will successfully trigger the </a:t>
            </a:r>
            <a:r>
              <a:rPr lang="en-US" sz="15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 traffic boost.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68400" y="1621790"/>
            <a:ext cx="8919210" cy="369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1B244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Tasty Bytes | Recipe Traffic Prediction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895" y="1739900"/>
            <a:ext cx="6355080" cy="3575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754880"/>
            <a:ext cx="3657600" cy="3657600"/>
          </a:xfrm>
          <a:prstGeom prst="ellipse">
            <a:avLst/>
          </a:prstGeom>
          <a:solidFill>
            <a:srgbClr val="141B41"/>
          </a:solidFill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6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RECOMMENDATIONS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Actionable 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141B41"/>
          </a:solidFill>
        </p:spPr>
      </p:sp>
      <p:sp>
        <p:nvSpPr>
          <p:cNvPr id="6" name="Shape 4"/>
          <p:cNvSpPr/>
          <p:nvPr/>
        </p:nvSpPr>
        <p:spPr>
          <a:xfrm>
            <a:off x="822960" y="219456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0E676"/>
          </a:solidFill>
        </p:spPr>
      </p:sp>
      <p:sp>
        <p:nvSpPr>
          <p:cNvPr id="7" name="Text 5"/>
          <p:cNvSpPr/>
          <p:nvPr/>
        </p:nvSpPr>
        <p:spPr>
          <a:xfrm>
            <a:off x="822960" y="2194560"/>
            <a:ext cx="1051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944368"/>
            <a:ext cx="91440" cy="91440"/>
          </a:xfrm>
          <a:prstGeom prst="ellipse">
            <a:avLst/>
          </a:prstGeom>
          <a:solidFill>
            <a:srgbClr val="00E676"/>
          </a:solidFill>
        </p:spPr>
      </p:sp>
      <p:sp>
        <p:nvSpPr>
          <p:cNvPr id="9" name="Text 7"/>
          <p:cNvSpPr/>
          <p:nvPr/>
        </p:nvSpPr>
        <p:spPr>
          <a:xfrm>
            <a:off x="1051560" y="2807208"/>
            <a:ext cx="2606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Cease featuring Beverage recipes on the homepage.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087368"/>
            <a:ext cx="91440" cy="91440"/>
          </a:xfrm>
          <a:prstGeom prst="ellipse">
            <a:avLst/>
          </a:prstGeom>
          <a:solidFill>
            <a:srgbClr val="00E676"/>
          </a:solidFill>
        </p:spPr>
      </p:sp>
      <p:sp>
        <p:nvSpPr>
          <p:cNvPr id="11" name="Text 9"/>
          <p:cNvSpPr/>
          <p:nvPr/>
        </p:nvSpPr>
        <p:spPr>
          <a:xfrm>
            <a:off x="1051560" y="3950208"/>
            <a:ext cx="2606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Prioritize Vegetable, Potato, and Pork recipes for guaranteed wins.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92024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141B41"/>
          </a:solidFill>
        </p:spPr>
      </p:sp>
      <p:sp>
        <p:nvSpPr>
          <p:cNvPr id="13" name="Shape 11"/>
          <p:cNvSpPr/>
          <p:nvPr/>
        </p:nvSpPr>
        <p:spPr>
          <a:xfrm>
            <a:off x="4572000" y="219456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0E676"/>
          </a:solidFill>
        </p:spPr>
      </p:sp>
      <p:sp>
        <p:nvSpPr>
          <p:cNvPr id="14" name="Text 12"/>
          <p:cNvSpPr/>
          <p:nvPr/>
        </p:nvSpPr>
        <p:spPr>
          <a:xfrm>
            <a:off x="4572000" y="2194560"/>
            <a:ext cx="1051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944368"/>
            <a:ext cx="91440" cy="91440"/>
          </a:xfrm>
          <a:prstGeom prst="ellipse">
            <a:avLst/>
          </a:prstGeom>
          <a:solidFill>
            <a:srgbClr val="00E676"/>
          </a:solidFill>
        </p:spPr>
      </p:sp>
      <p:sp>
        <p:nvSpPr>
          <p:cNvPr id="16" name="Text 14"/>
          <p:cNvSpPr/>
          <p:nvPr/>
        </p:nvSpPr>
        <p:spPr>
          <a:xfrm>
            <a:off x="4800600" y="2807208"/>
            <a:ext cx="2606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the Logistic Regression model to automate homepage recipe selection.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141B41"/>
          </a:solidFill>
        </p:spPr>
      </p:sp>
      <p:sp>
        <p:nvSpPr>
          <p:cNvPr id="18" name="Shape 16"/>
          <p:cNvSpPr/>
          <p:nvPr/>
        </p:nvSpPr>
        <p:spPr>
          <a:xfrm>
            <a:off x="8321040" y="219456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0E676"/>
          </a:solidFill>
        </p:spPr>
      </p:sp>
      <p:sp>
        <p:nvSpPr>
          <p:cNvPr id="19" name="Text 17"/>
          <p:cNvSpPr/>
          <p:nvPr/>
        </p:nvSpPr>
        <p:spPr>
          <a:xfrm>
            <a:off x="8321040" y="2194560"/>
            <a:ext cx="1051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2944368"/>
            <a:ext cx="91440" cy="91440"/>
          </a:xfrm>
          <a:prstGeom prst="ellipse">
            <a:avLst/>
          </a:prstGeom>
          <a:solidFill>
            <a:srgbClr val="00E676"/>
          </a:solidFill>
        </p:spPr>
      </p:sp>
      <p:sp>
        <p:nvSpPr>
          <p:cNvPr id="21" name="Text 19"/>
          <p:cNvSpPr/>
          <p:nvPr/>
        </p:nvSpPr>
        <p:spPr>
          <a:xfrm>
            <a:off x="8549640" y="2807208"/>
            <a:ext cx="2606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new features — prep time, image aesthetics, cost — to strengthen the model further.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Tasty Bytes | Recipe Traffic Prediction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2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3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4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5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6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7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8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9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10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11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12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13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14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15.xml><?xml version="1.0" encoding="utf-8"?>
<p:tagLst xmlns:p="http://schemas.openxmlformats.org/presentationml/2006/main">
  <p:tag name="KSO_WM_DIAGRAM_VIRTUALLY_FRAME" val="{&quot;height&quot;:162.7,&quot;left&quot;:43.2,&quot;top&quot;:151.2,&quot;width&quot;:835.2}"/>
</p:tagLst>
</file>

<file path=ppt/tags/tag16.xml><?xml version="1.0" encoding="utf-8"?>
<p:tagLst xmlns:p="http://schemas.openxmlformats.org/presentationml/2006/main">
  <p:tag name="KSO_WM_DIAGRAM_VIRTUALLY_FRAME" val="{&quot;height&quot;:280.8,&quot;left&quot;:43.2,&quot;top&quot;:183.6,&quot;width&quot;:403.2}"/>
</p:tagLst>
</file>

<file path=ppt/tags/tag17.xml><?xml version="1.0" encoding="utf-8"?>
<p:tagLst xmlns:p="http://schemas.openxmlformats.org/presentationml/2006/main">
  <p:tag name="KSO_WM_DIAGRAM_VIRTUALLY_FRAME" val="{&quot;height&quot;:280.8,&quot;left&quot;:43.2,&quot;top&quot;:183.6,&quot;width&quot;:403.2}"/>
</p:tagLst>
</file>

<file path=ppt/tags/tag18.xml><?xml version="1.0" encoding="utf-8"?>
<p:tagLst xmlns:p="http://schemas.openxmlformats.org/presentationml/2006/main">
  <p:tag name="KSO_WM_DIAGRAM_VIRTUALLY_FRAME" val="{&quot;height&quot;:280.8,&quot;left&quot;:43.2,&quot;top&quot;:183.6,&quot;width&quot;:403.2}"/>
</p:tagLst>
</file>

<file path=ppt/tags/tag19.xml><?xml version="1.0" encoding="utf-8"?>
<p:tagLst xmlns:p="http://schemas.openxmlformats.org/presentationml/2006/main">
  <p:tag name="KSO_WM_DIAGRAM_VIRTUALLY_FRAME" val="{&quot;height&quot;:280.8,&quot;left&quot;:43.2,&quot;top&quot;:183.6,&quot;width&quot;:403.2}"/>
</p:tagLst>
</file>

<file path=ppt/tags/tag20.xml><?xml version="1.0" encoding="utf-8"?>
<p:tagLst xmlns:p="http://schemas.openxmlformats.org/presentationml/2006/main">
  <p:tag name="KSO_WM_DIAGRAM_VIRTUALLY_FRAME" val="{&quot;height&quot;:280.8,&quot;left&quot;:43.2,&quot;top&quot;:183.6,&quot;width&quot;:403.2}"/>
</p:tagLst>
</file>

<file path=ppt/tags/tag21.xml><?xml version="1.0" encoding="utf-8"?>
<p:tagLst xmlns:p="http://schemas.openxmlformats.org/presentationml/2006/main">
  <p:tag name="KSO_WM_DIAGRAM_VIRTUALLY_FRAME" val="{&quot;height&quot;:280.8,&quot;left&quot;:43.2,&quot;top&quot;:183.6,&quot;width&quot;:403.2}"/>
</p:tagLst>
</file>

<file path=ppt/tags/tag22.xml><?xml version="1.0" encoding="utf-8"?>
<p:tagLst xmlns:p="http://schemas.openxmlformats.org/presentationml/2006/main">
  <p:tag name="KSO_WM_DIAGRAM_VIRTUALLY_FRAME" val="{&quot;height&quot;:280.8,&quot;left&quot;:43.2,&quot;top&quot;:183.6,&quot;width&quot;:403.2}"/>
</p:tagLst>
</file>

<file path=ppt/tags/tag23.xml><?xml version="1.0" encoding="utf-8"?>
<p:tagLst xmlns:p="http://schemas.openxmlformats.org/presentationml/2006/main">
  <p:tag name="KSO_WM_DIAGRAM_VIRTUALLY_FRAME" val="{&quot;height&quot;:280.8,&quot;left&quot;:43.2,&quot;top&quot;:183.6,&quot;width&quot;:403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4075</Words>
  <Application>WPS Presentation</Application>
  <PresentationFormat>On-screen Show (16:9)</PresentationFormat>
  <Paragraphs>258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Muhammad Taha</cp:lastModifiedBy>
  <cp:revision>10</cp:revision>
  <dcterms:created xsi:type="dcterms:W3CDTF">2026-08-02T10:49:00Z</dcterms:created>
  <dcterms:modified xsi:type="dcterms:W3CDTF">2026-08-02T12:01:25Z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8A7738385A8346E38287B71FBA6AC14F_12</vt:lpwstr>
  </property>
  <property fmtid="{D5CDD505-2E9C-101B-9397-08002B2CF9AE}" pid="3" name="KSOProductBuildVer">
    <vt:lpwstr>2057-12.2.0.23206</vt:lpwstr>
  </property>
</Properties>
</file>